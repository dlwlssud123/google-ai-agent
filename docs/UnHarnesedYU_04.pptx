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17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1412"/>
          </a:solidFill>
          <a:ln w="12700">
            <a:solidFill>
              <a:srgbClr val="1614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41148" cy="20116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UnHarnesedYU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25420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기반 설비 장애 조치 지원 에이전트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3127248"/>
            <a:ext cx="3840480" cy="12802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팀명: UnHarnesedYU   |   팀장: 이진녕   |   팀원: 안태언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754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다운타임 최소화를 위한 Workflow 기반 RAG 장애 조치 에이전트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0" y="320040"/>
            <a:ext cx="68580" cy="68580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35240" y="320040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63840" y="320040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92440" y="320040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406640" y="566928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635240" y="566928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863840" y="566928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92440" y="566928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406640" y="813816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635240" y="813816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863840" y="813816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92440" y="813816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06640" y="1060704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635240" y="1060704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863840" y="1060704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092440" y="1060704"/>
            <a:ext cx="68580" cy="68580"/>
          </a:xfrm>
          <a:prstGeom prst="ellipse">
            <a:avLst/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046720" y="4480560"/>
            <a:ext cx="594360" cy="5943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863840" y="4297680"/>
            <a:ext cx="320040" cy="320040"/>
          </a:xfrm>
          <a:prstGeom prst="rect">
            <a:avLst/>
          </a:prstGeom>
          <a:solidFill>
            <a:srgbClr val="2E2B28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PART 1  ·  문제 인식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2120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현장의 현실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장애 발생 시, 현장에서는 실제로 무슨 일이 일어나는가?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7498080" cy="10973"/>
          </a:xfrm>
          <a:prstGeom prst="rect">
            <a:avLst/>
          </a:prstGeom>
          <a:solidFill>
            <a:srgbClr val="2E2B28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810512"/>
            <a:ext cx="384048" cy="384048"/>
          </a:xfrm>
          <a:prstGeom prst="rect">
            <a:avLst/>
          </a:prstGeom>
          <a:solidFill>
            <a:srgbClr val="252320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8105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두꺼운 매뉴얼을 직접 뒤적입니다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상황에서 수백 페이지 분량의 PDF·종이 매뉴얼을 직접 탐색해야 합니다. 관련 페이지를 찾는 데만 수 분이 소요되어 골든타임을 놓칩니다.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578608"/>
            <a:ext cx="7498080" cy="10973"/>
          </a:xfrm>
          <a:prstGeom prst="rect">
            <a:avLst/>
          </a:prstGeom>
          <a:solidFill>
            <a:srgbClr val="2E2B28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384048" cy="384048"/>
          </a:xfrm>
          <a:prstGeom prst="rect">
            <a:avLst/>
          </a:prstGeom>
          <a:solidFill>
            <a:srgbClr val="252320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숙련 작업자를 찾아 구두로 전달받습니다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303580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체계화·문서화되지 않은 현장일수록 숙련자 경험에만 의존합니다. 숙련자 부재 시 신규 인력은 속수무책이 되고, 작업자 간 기술 편차가 심화됩니다.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7498080" cy="10973"/>
          </a:xfrm>
          <a:prstGeom prst="rect">
            <a:avLst/>
          </a:prstGeom>
          <a:solidFill>
            <a:srgbClr val="2E2B28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675888"/>
            <a:ext cx="384048" cy="384048"/>
          </a:xfrm>
          <a:prstGeom prst="rect">
            <a:avLst/>
          </a:prstGeom>
          <a:solidFill>
            <a:srgbClr val="252320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36758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두꺼운 장갑을 낀 채 스마트기기를 조작해야 합니다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96849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디지털 솔루션은 키보드 타이핑을 전제합니다. 안전 장갑을 착용한 작업자에게는 위급 상황에서 사용하기 어렵습니다.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617720"/>
            <a:ext cx="7498080" cy="420624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41148" cy="42062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461772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 </a:t>
            </a:r>
            <a:r>
              <a:rPr lang="en-US" sz="11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매뉴얼 탐색 지연 → 골든타임 손실 → 설비 다운타임 → 경제적 손실의 악순환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PART 1  ·  문제 인식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2120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왜 이 시스템이 필요한가?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인터뷰와 현황 분석을 통해 도출한 3가지 핵심 문제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274320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302E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2743200" cy="502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18745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76072" y="21305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초기 대응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지연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76072" y="2926080"/>
            <a:ext cx="2423160" cy="10973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76072" y="299923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매뉴얼 탐색에 소요되는 시간이 설비 다운타임을 증가시킵니다. 장애 발생 후 최초 조치까지의 지연은 경제적 손실로 직결됩니다.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" y="4370832"/>
            <a:ext cx="1828800" cy="256032"/>
          </a:xfrm>
          <a:prstGeom prst="rect">
            <a:avLst/>
          </a:prstGeom>
          <a:solidFill>
            <a:srgbClr val="3D2319"/>
          </a:solidFill>
          <a:ln w="12700">
            <a:solidFill>
              <a:srgbClr val="523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6072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다운타임 = 손실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719072"/>
            <a:ext cx="274320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302E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73552" y="1719072"/>
            <a:ext cx="2743200" cy="502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438144" y="18745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38144" y="21305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AI 신뢰성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한계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438144" y="2926080"/>
            <a:ext cx="2423160" cy="10973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38144" y="299923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생명·안전과 직결된 보수적 현장에서 범용 LLM의 환각(Hallucination)은 치명적입니다. 원문 교차 검증 없이는 사용이 불가합니다.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38144" y="4370832"/>
            <a:ext cx="1828800" cy="256032"/>
          </a:xfrm>
          <a:prstGeom prst="rect">
            <a:avLst/>
          </a:prstGeom>
          <a:solidFill>
            <a:srgbClr val="3D2319"/>
          </a:solidFill>
          <a:ln w="12700">
            <a:solidFill>
              <a:srgbClr val="523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438144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Hallucination 위험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35624" y="1719072"/>
            <a:ext cx="274320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302E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135624" y="1719072"/>
            <a:ext cx="2743200" cy="502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00216" y="18745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0216" y="21305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물리적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조작 한계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300216" y="2926080"/>
            <a:ext cx="2423160" cy="10973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00216" y="299923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두꺼운 안전 장갑을 착용한 상태에서 기존 터치·키보드 인터페이스는 위급 상황에서 사용하기 매우 어렵습니다.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0216" y="4370832"/>
            <a:ext cx="1828800" cy="256032"/>
          </a:xfrm>
          <a:prstGeom prst="rect">
            <a:avLst/>
          </a:prstGeom>
          <a:solidFill>
            <a:srgbClr val="3D2319"/>
          </a:solidFill>
          <a:ln w="12700">
            <a:solidFill>
              <a:srgbClr val="523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00216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 부적합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PART 2  ·  솔루션 소개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2120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UnHarnesedYU의 해답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챗봇을 넘어, 사내 매뉴얼만을 참조하는 워크플로우 기반 에이전트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19072"/>
            <a:ext cx="374904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302E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6A64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기존 방식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201168" cy="201168"/>
          </a:xfrm>
          <a:prstGeom prst="ellipse">
            <a:avLst/>
          </a:prstGeom>
          <a:solidFill>
            <a:srgbClr val="3A2828"/>
          </a:solidFill>
          <a:ln w="12700">
            <a:solidFill>
              <a:srgbClr val="5A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34440" y="23225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 페이지 매뉴얼을 직접 탐색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788920"/>
            <a:ext cx="201168" cy="201168"/>
          </a:xfrm>
          <a:prstGeom prst="ellipse">
            <a:avLst/>
          </a:prstGeom>
          <a:solidFill>
            <a:srgbClr val="3A2828"/>
          </a:solidFill>
          <a:ln w="12700">
            <a:solidFill>
              <a:srgbClr val="5A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34440" y="2779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숙련 작업자 구두 전달에 의존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246120"/>
            <a:ext cx="201168" cy="201168"/>
          </a:xfrm>
          <a:prstGeom prst="ellipse">
            <a:avLst/>
          </a:prstGeom>
          <a:solidFill>
            <a:srgbClr val="3A2828"/>
          </a:solidFill>
          <a:ln w="12700">
            <a:solidFill>
              <a:srgbClr val="5A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34440" y="32369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AI의 환각 — 신뢰 불가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" y="3703320"/>
            <a:ext cx="201168" cy="201168"/>
          </a:xfrm>
          <a:prstGeom prst="ellipse">
            <a:avLst/>
          </a:prstGeom>
          <a:solidFill>
            <a:srgbClr val="3A2828"/>
          </a:solidFill>
          <a:ln w="12700">
            <a:solidFill>
              <a:srgbClr val="5A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34440" y="36941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장갑 착용 시 입력 물리적 불가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201168" cy="201168"/>
          </a:xfrm>
          <a:prstGeom prst="ellipse">
            <a:avLst/>
          </a:prstGeom>
          <a:solidFill>
            <a:srgbClr val="3A2828"/>
          </a:solidFill>
          <a:ln w="12700">
            <a:solidFill>
              <a:srgbClr val="5A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0120" y="4160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4151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표준화된 조치 절차 부재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719072"/>
            <a:ext cx="3749040" cy="3063240"/>
          </a:xfrm>
          <a:prstGeom prst="rect">
            <a:avLst/>
          </a:prstGeom>
          <a:solidFill>
            <a:srgbClr val="201E1B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17720" y="1719072"/>
            <a:ext cx="3749040" cy="502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UnHarnesedYU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2331720"/>
            <a:ext cx="201168" cy="201168"/>
          </a:xfrm>
          <a:prstGeom prst="ellipse">
            <a:avLst/>
          </a:prstGeom>
          <a:solidFill>
            <a:srgbClr val="1E3020"/>
          </a:solidFill>
          <a:ln w="12700">
            <a:solidFill>
              <a:srgbClr val="2E5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5488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AF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3225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매뉴얼 기반 RAG — 정확한 답변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788920"/>
            <a:ext cx="201168" cy="201168"/>
          </a:xfrm>
          <a:prstGeom prst="ellipse">
            <a:avLst/>
          </a:prstGeom>
          <a:solidFill>
            <a:srgbClr val="1E3020"/>
          </a:solidFill>
          <a:ln w="12700">
            <a:solidFill>
              <a:srgbClr val="2E5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AF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27797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에이전트 — 단계별 조치 안내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246120"/>
            <a:ext cx="201168" cy="201168"/>
          </a:xfrm>
          <a:prstGeom prst="ellipse">
            <a:avLst/>
          </a:prstGeom>
          <a:solidFill>
            <a:srgbClr val="1E3020"/>
          </a:solidFill>
          <a:ln w="12700">
            <a:solidFill>
              <a:srgbClr val="2E5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AF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2369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PDF 뷰어 — 원문 즉시 교차 검증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703320"/>
            <a:ext cx="201168" cy="201168"/>
          </a:xfrm>
          <a:prstGeom prst="ellipse">
            <a:avLst/>
          </a:prstGeom>
          <a:solidFill>
            <a:srgbClr val="1E3020"/>
          </a:solidFill>
          <a:ln w="12700">
            <a:solidFill>
              <a:srgbClr val="2E5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5488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AF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6941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원터치 퀵 버튼 — 장갑 착용 상태 조작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160520"/>
            <a:ext cx="201168" cy="201168"/>
          </a:xfrm>
          <a:prstGeom prst="ellipse">
            <a:avLst/>
          </a:prstGeom>
          <a:solidFill>
            <a:srgbClr val="1E3020"/>
          </a:solidFill>
          <a:ln w="12700">
            <a:solidFill>
              <a:srgbClr val="2E5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754880" y="4160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AF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41513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세션별 설비 관리 — 혼선 없는 다중 대응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PART 2  ·  솔루션 소개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2120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시스템 아키텍처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4개의 파이프라인으로 구성된 Workflow 기반 RAG 장애 조치 에이전트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201168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41148" cy="3063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7922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데이터 수집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&amp; 전처리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816352"/>
            <a:ext cx="1719072" cy="10973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매뉴얼 드래그 앤 드롭 업로드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 기반(Semantic) 청킹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78561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Gemini 임베딩 생성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421538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ChromaDB 벡터 저장 &amp; 인덱싱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78024" y="3200400"/>
            <a:ext cx="73152" cy="10973"/>
          </a:xfrm>
          <a:prstGeom prst="rect">
            <a:avLst/>
          </a:prstGeom>
          <a:solidFill>
            <a:srgbClr val="4A4744"/>
          </a:solidFill>
          <a:ln w="1270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560320" y="1719072"/>
            <a:ext cx="201168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560320" y="1719072"/>
            <a:ext cx="41148" cy="3063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697480" y="17922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20848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RAG 검색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&amp; 생성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97480" y="2816352"/>
            <a:ext cx="1719072" cy="10973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697480" y="29260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질의 벡터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97480" y="3355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코사인 유사도 Top-K 검색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97480" y="378561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세맨틱 캐시 조회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97480" y="421538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LLM 답변 생성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81144" y="3200400"/>
            <a:ext cx="73152" cy="10973"/>
          </a:xfrm>
          <a:prstGeom prst="rect">
            <a:avLst/>
          </a:prstGeom>
          <a:solidFill>
            <a:srgbClr val="4A4744"/>
          </a:solidFill>
          <a:ln w="1270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63440" y="1719072"/>
            <a:ext cx="201168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663440" y="1719072"/>
            <a:ext cx="41148" cy="3063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00600" y="17922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0848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워크플로우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엔진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00600" y="2816352"/>
            <a:ext cx="1719072" cy="10973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00600" y="29260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기반 점검 단계 관리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355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원터치 퀵 버튼 UI 제공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378561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추천 점검 항목 제시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421538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Fail-Safe 예외 메시지 처리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84264" y="3200400"/>
            <a:ext cx="73152" cy="10973"/>
          </a:xfrm>
          <a:prstGeom prst="rect">
            <a:avLst/>
          </a:prstGeom>
          <a:solidFill>
            <a:srgbClr val="4A4744"/>
          </a:solidFill>
          <a:ln w="1270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766560" y="1719072"/>
            <a:ext cx="2011680" cy="306324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766560" y="1719072"/>
            <a:ext cx="41148" cy="3063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903720" y="17922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20848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현장 맞춤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UI/UX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03720" y="2816352"/>
            <a:ext cx="1719072" cy="10973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903720" y="29260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클릭 → PDF 뷰어 연동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03720" y="3355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세션별 매뉴얼 파일 매핑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378561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PII 민감 정보 마스킹 필터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03720" y="421538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루프 데이터 수집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2E2B28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  ·  Next.js  ·  ChromaDB  ·  Google Gemini API  ·  Server Actions  ·  Local JSON DB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PART 3  ·  핵심 기능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2120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7가지 핵심 기능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검색을 넘어 현장 맞춤형으로 설계된 기능들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2066544" cy="132588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4747" cy="132588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매뉴얼 인제스천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엔진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앤 드롭으로 PDF 업로드 → 의미 기반 청킹 → ChromaDB 벡터 저장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1719072"/>
            <a:ext cx="2066544" cy="132588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606040" y="1719072"/>
            <a:ext cx="34747" cy="132588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697480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의미론적 RAG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Q&amp;A 엔진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48716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질의 이해 → Top-K 컨텍스트 검색 → Gemini LLM 답변 생성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719072"/>
            <a:ext cx="2066544" cy="132588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34747" cy="132588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스마트 세맨틱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캐싱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코사인 유사도 기반 캐시 매칭으로 LLM 재호출 없이 밀리초 응답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03720" y="1719072"/>
            <a:ext cx="2066544" cy="132588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03720" y="1719072"/>
            <a:ext cx="34747" cy="132588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995160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201168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멀티 세션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UI/UX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248716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설비별 독립 채팅방 생성 · 세션별 검색 범위 매뉴얼 개별 지정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531620" y="3200400"/>
            <a:ext cx="2066544" cy="1325880"/>
          </a:xfrm>
          <a:prstGeom prst="rect">
            <a:avLst/>
          </a:prstGeom>
          <a:solidFill>
            <a:srgbClr val="201E1B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531620" y="3200400"/>
            <a:ext cx="34747" cy="13258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623060" y="32918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23060" y="34930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출처 PDF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뷰어 연동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23060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태그 클릭 → 내장 PDF 뷰어로 해당 페이지 즉시 이동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80460" y="3200400"/>
            <a:ext cx="2066544" cy="1325880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80460" y="3200400"/>
            <a:ext cx="34747" cy="132588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771900" y="32918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71900" y="34930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PII 민감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정보 필터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71900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주민번호·IP·이메일 등 자동 마스킹 처리 후 외부 API 전송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29300" y="3200400"/>
            <a:ext cx="2066544" cy="1325880"/>
          </a:xfrm>
          <a:prstGeom prst="rect">
            <a:avLst/>
          </a:prstGeom>
          <a:solidFill>
            <a:srgbClr val="201E1B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829300" y="3200400"/>
            <a:ext cx="34747" cy="13258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20740" y="32918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20740" y="34930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피드백 루프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&amp; 강화 학습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20740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👍/👎 피드백 → DB 아카이빙 → RAG 검색 가중치 자율 갱신 로드맵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PART 3  ·  핵심 기능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2120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차별화 기능 ① — 출처 PDF 뷰어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답변의 근거를 클릭 한 번으로 직접 확인 — 팩트체크 허들을 최소화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463040" cy="274320"/>
          </a:xfrm>
          <a:prstGeom prst="rect">
            <a:avLst/>
          </a:prstGeom>
          <a:solidFill>
            <a:srgbClr val="3D2319"/>
          </a:solidFill>
          <a:ln w="12700">
            <a:solidFill>
              <a:srgbClr val="523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Embedded PDF Viewer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993392"/>
            <a:ext cx="530352" cy="201168"/>
          </a:xfrm>
          <a:prstGeom prst="rect">
            <a:avLst/>
          </a:prstGeom>
          <a:solidFill>
            <a:srgbClr val="252320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인용 태그 자동 생성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459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답변 하단에 근거 매뉴얼의 파일명과 정확한 페이지 번호가 태그 형태로 자동 표시됩니다.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42416" y="2843784"/>
            <a:ext cx="13716" cy="4572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22960" y="2862072"/>
            <a:ext cx="530352" cy="201168"/>
          </a:xfrm>
          <a:prstGeom prst="rect">
            <a:avLst/>
          </a:prstGeom>
          <a:solidFill>
            <a:srgbClr val="252320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862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296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→ 내장 PDF 뷰어 즉시 활성화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328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태그를 클릭하면 외부 뷰어 없이도 모달 형태로 PDF 뷰어가 슬라이드 내에서 바로 열립니다.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42416" y="3712464"/>
            <a:ext cx="13716" cy="4572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22960" y="3730752"/>
            <a:ext cx="530352" cy="201168"/>
          </a:xfrm>
          <a:prstGeom prst="rect">
            <a:avLst/>
          </a:prstGeom>
          <a:solidFill>
            <a:srgbClr val="252320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7307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" y="3959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페이지로 자동 스크롤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1970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 페이지 문서를 직접 탐색할 필요 없이, 근거가 기술된 페이지로 즉시 이동하여 원문 교차 검증이 가능합니다.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4681728"/>
            <a:ext cx="3657600" cy="347472"/>
          </a:xfrm>
          <a:prstGeom prst="rect">
            <a:avLst/>
          </a:prstGeom>
          <a:solidFill>
            <a:srgbClr val="2523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22960" y="4681728"/>
            <a:ext cx="34747" cy="34747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4681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가치  </a:t>
            </a: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Hallucination 방지 · 작업자 신뢰도 향상 · 원문 검증 시간 단축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69563" y="1600200"/>
            <a:ext cx="4145837" cy="3246120"/>
          </a:xfrm>
          <a:prstGeom prst="rect">
            <a:avLst/>
          </a:prstGeom>
          <a:solidFill>
            <a:srgbClr val="252320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0" descr="/mnt/user-data/uploads/출처_pdf미리보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003" y="1691640"/>
            <a:ext cx="3962957" cy="30632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769563" y="4919472"/>
            <a:ext cx="41458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 인용 태그 클릭 시 내장 PDF 뷰어가 p.27로 즉시 이동한 화면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PART 3  ·  핵심 기능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212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차별화 기능 ②  —  피드백 루프 &amp; 스마트 캐싱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155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쓸수록 똑똑해지는 시스템  ·  API 비용 절감과 응답 속도 향상을 동시에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536192"/>
            <a:ext cx="3749040" cy="1536192"/>
          </a:xfrm>
          <a:prstGeom prst="rect">
            <a:avLst/>
          </a:prstGeom>
          <a:solidFill>
            <a:srgbClr val="252320"/>
          </a:solidFill>
          <a:ln w="12700">
            <a:solidFill>
              <a:srgbClr val="302E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36192"/>
            <a:ext cx="3749040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50976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피드백 루프 (Feedback Loop)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9933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👍 / 👎  현장 피드백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55064" y="19933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59152" y="19933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9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아카이빙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19933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67328" y="19933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가중치 갱신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50976" y="23408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답변에 대한 👍/👎 평가를 DB에 축적하여 유사 장애 재발 시 해결 기여도가 높은 매뉴얼이 상단에 노출되도록 검색 우선순위를 자동 조정합니다.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3182112"/>
            <a:ext cx="3749040" cy="1536192"/>
          </a:xfrm>
          <a:prstGeom prst="rect">
            <a:avLst/>
          </a:prstGeom>
          <a:solidFill>
            <a:srgbClr val="252320"/>
          </a:solidFill>
          <a:ln w="12700">
            <a:solidFill>
              <a:srgbClr val="302E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3182112"/>
            <a:ext cx="3749040" cy="45720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50976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9F5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스마트 세맨틱 캐싱 (Semantic Cache)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976" y="3630168"/>
            <a:ext cx="1600200" cy="658368"/>
          </a:xfrm>
          <a:prstGeom prst="rect">
            <a:avLst/>
          </a:prstGeom>
          <a:solidFill>
            <a:srgbClr val="1E1C19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0976" y="36667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&lt; 50ms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50976" y="40325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캐시 히트 시 응답 속도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34056" y="3630168"/>
            <a:ext cx="1600200" cy="658368"/>
          </a:xfrm>
          <a:prstGeom prst="rect">
            <a:avLst/>
          </a:prstGeom>
          <a:solidFill>
            <a:srgbClr val="1E1C19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734056" y="36667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785C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34056" y="40325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재호출 횟수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50976" y="4370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동일·유사 질문은 코사인 유사도 비교로 캐시에서 즉각 반환합니다. 단순 텍스트 일치가 아닌 의미(Semantic) 기반 매칭으로 변형된 질문도 완벽 커버합니다.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8835" y="1536192"/>
            <a:ext cx="4433725" cy="3182112"/>
          </a:xfrm>
          <a:prstGeom prst="rect">
            <a:avLst/>
          </a:prstGeom>
          <a:solidFill>
            <a:srgbClr val="252320"/>
          </a:solidFill>
          <a:ln w="12700">
            <a:solidFill>
              <a:srgbClr val="302E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0" descr="/mnt/user-data/uploads/답변의_피드백반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18488"/>
            <a:ext cx="4342285" cy="3017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27395" y="4718304"/>
            <a:ext cx="45251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 답변 하단의 피드백 버튼 — 도움이 됨 평가 시 RAG 검색 우선순위에 반영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875</Words>
  <Application>Microsoft Office PowerPoint</Application>
  <PresentationFormat>화면 슬라이드 쇼(16:9)</PresentationFormat>
  <Paragraphs>160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HY견고딕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UnHarnesedYU</dc:title>
  <dc:subject>PptxGenJS Presentation</dc:subject>
  <dc:creator>PptxGenJS</dc:creator>
  <cp:lastModifiedBy>안태언</cp:lastModifiedBy>
  <cp:revision>2</cp:revision>
  <dcterms:created xsi:type="dcterms:W3CDTF">2026-05-21T18:01:01Z</dcterms:created>
  <dcterms:modified xsi:type="dcterms:W3CDTF">2026-05-21T18:46:18Z</dcterms:modified>
</cp:coreProperties>
</file>