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60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7655A-03AC-4CF6-88B9-B4E7B7CF3CE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982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33A32-2A39-C060-A839-C7A684A79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C68D00-8ECE-279B-12A9-EFBD68A09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74F7DF-4F60-087B-9844-87FD5DF7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AA68-5D66-4FEE-B428-6B1FDB5FD67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3AEB5-5740-8E35-DEB6-A0E6C2A6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930287-3097-C379-896A-B10C2759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8916-C22B-485B-9909-D0C754CEF8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02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a_clean_minimalist_abstract_background_scene_a_da.png">
            <a:extLst>
              <a:ext uri="{FF2B5EF4-FFF2-40B4-BE49-F238E27FC236}">
                <a16:creationId xmlns:a16="http://schemas.microsoft.com/office/drawing/2014/main" id="{1BCA8A9E-B6A1-E027-0B0B-AAEC791C1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9F9D2FB-0902-96D3-AB7F-739A3C1C7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040968"/>
            <a:ext cx="9144000" cy="1147763"/>
          </a:xfrm>
        </p:spPr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sz="5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RAG </a:t>
            </a:r>
            <a:r>
              <a:rPr lang="ko-KR" altLang="en-US" sz="5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장애 조치 지원 에이전트</a:t>
            </a:r>
            <a:endParaRPr lang="ko-KR" altLang="en-US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F953DFB-963C-6AAC-E438-23EBF347614B}"/>
              </a:ext>
            </a:extLst>
          </p:cNvPr>
          <p:cNvSpPr/>
          <p:nvPr/>
        </p:nvSpPr>
        <p:spPr>
          <a:xfrm>
            <a:off x="3608795" y="4062548"/>
            <a:ext cx="4974409" cy="1089162"/>
          </a:xfrm>
          <a:prstGeom prst="roundRect">
            <a:avLst/>
          </a:prstGeom>
          <a:solidFill>
            <a:schemeClr val="tx1">
              <a:lumMod val="85000"/>
              <a:lumOff val="15000"/>
              <a:alpha val="67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21CFE-07DE-A381-3A24-5599435AC532}"/>
              </a:ext>
            </a:extLst>
          </p:cNvPr>
          <p:cNvSpPr txBox="1"/>
          <p:nvPr/>
        </p:nvSpPr>
        <p:spPr>
          <a:xfrm>
            <a:off x="3608793" y="2416302"/>
            <a:ext cx="4974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9999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설비 다운타임 최소화를 위한 </a:t>
            </a:r>
            <a:r>
              <a:rPr lang="en-US" altLang="ko-KR" dirty="0">
                <a:solidFill>
                  <a:srgbClr val="9999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Workflow </a:t>
            </a:r>
            <a:r>
              <a:rPr lang="ko-KR" altLang="en-US" dirty="0">
                <a:solidFill>
                  <a:srgbClr val="9999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기반 </a:t>
            </a:r>
            <a:r>
              <a:rPr lang="en-US" altLang="ko-KR" dirty="0">
                <a:solidFill>
                  <a:srgbClr val="9999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RAG </a:t>
            </a:r>
            <a:r>
              <a:rPr lang="ko-KR" altLang="en-US" dirty="0">
                <a:solidFill>
                  <a:srgbClr val="9999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장애 조치 에이전트</a:t>
            </a:r>
            <a:endParaRPr lang="ko-KR" altLang="en-US" b="1" dirty="0">
              <a:solidFill>
                <a:srgbClr val="9999FF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F7E557B-BE21-02F5-7D16-13D759C45A61}"/>
              </a:ext>
            </a:extLst>
          </p:cNvPr>
          <p:cNvCxnSpPr>
            <a:cxnSpLocks/>
          </p:cNvCxnSpPr>
          <p:nvPr/>
        </p:nvCxnSpPr>
        <p:spPr>
          <a:xfrm>
            <a:off x="5597434" y="4342606"/>
            <a:ext cx="0" cy="52904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73DA37-CAA6-2BC0-4C8D-B635D6C1246D}"/>
              </a:ext>
            </a:extLst>
          </p:cNvPr>
          <p:cNvSpPr txBox="1"/>
          <p:nvPr/>
        </p:nvSpPr>
        <p:spPr>
          <a:xfrm>
            <a:off x="3765385" y="4290119"/>
            <a:ext cx="1794081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TEAM</a:t>
            </a:r>
          </a:p>
          <a:p>
            <a:pPr>
              <a:lnSpc>
                <a:spcPct val="130000"/>
              </a:lnSpc>
            </a:pPr>
            <a:r>
              <a:rPr lang="en-US" altLang="ko-KR" sz="1600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UnHarenesedYU</a:t>
            </a:r>
            <a:endParaRPr lang="ko-KR" altLang="en-US" sz="1600" dirty="0">
              <a:solidFill>
                <a:schemeClr val="bg1">
                  <a:lumMod val="85000"/>
                </a:schemeClr>
              </a:solidFill>
              <a:latin typeface="Mangal" panose="020B0502040204020203" pitchFamily="18" charset="0"/>
              <a:ea typeface="Noto Sans KR" panose="020B0200000000000000" pitchFamily="50" charset="-127"/>
              <a:cs typeface="Mangal" panose="020B05020402040202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19112-3DDD-2694-1107-395818EB5853}"/>
              </a:ext>
            </a:extLst>
          </p:cNvPr>
          <p:cNvSpPr txBox="1"/>
          <p:nvPr/>
        </p:nvSpPr>
        <p:spPr>
          <a:xfrm>
            <a:off x="5754025" y="4290119"/>
            <a:ext cx="2599509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MEMBERS</a:t>
            </a:r>
          </a:p>
          <a:p>
            <a:r>
              <a:rPr lang="ko-KR" altLang="en-US" sz="1400" dirty="0" err="1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이진녕</a:t>
            </a:r>
            <a:r>
              <a:rPr lang="ko-KR" altLang="en-US" sz="1400" dirty="0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     안태언</a:t>
            </a:r>
            <a:endParaRPr lang="en-US" altLang="ko-KR" sz="1400" dirty="0">
              <a:solidFill>
                <a:schemeClr val="bg1">
                  <a:lumMod val="85000"/>
                </a:schemeClr>
              </a:solidFill>
              <a:latin typeface="Mangal" panose="020B0502040204020203" pitchFamily="18" charset="0"/>
              <a:ea typeface="Noto Sans KR" panose="020B0200000000000000" pitchFamily="50" charset="-127"/>
              <a:cs typeface="Mangal" panose="020B0502040204020203" pitchFamily="18" charset="0"/>
            </a:endParaRPr>
          </a:p>
          <a:p>
            <a:r>
              <a:rPr lang="ko-KR" altLang="en-US" sz="700" dirty="0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조장</a:t>
            </a:r>
            <a:r>
              <a:rPr lang="en-US" altLang="ko-KR" sz="700" dirty="0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/Leader</a:t>
            </a:r>
            <a:r>
              <a:rPr lang="ko-KR" altLang="en-US" sz="700" dirty="0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           조원</a:t>
            </a:r>
            <a:r>
              <a:rPr lang="en-US" altLang="ko-KR" sz="700" dirty="0">
                <a:solidFill>
                  <a:schemeClr val="bg1">
                    <a:lumMod val="85000"/>
                  </a:schemeClr>
                </a:solidFill>
                <a:latin typeface="Mangal" panose="020B0502040204020203" pitchFamily="18" charset="0"/>
                <a:ea typeface="Noto Sans KR" panose="020B0200000000000000" pitchFamily="50" charset="-127"/>
                <a:cs typeface="Mangal" panose="020B0502040204020203" pitchFamily="18" charset="0"/>
              </a:rPr>
              <a:t> /Member</a:t>
            </a:r>
            <a:endParaRPr lang="ko-KR" altLang="en-US" sz="700" dirty="0">
              <a:solidFill>
                <a:schemeClr val="bg1">
                  <a:lumMod val="85000"/>
                </a:schemeClr>
              </a:solidFill>
              <a:latin typeface="Mangal" panose="020B0502040204020203" pitchFamily="18" charset="0"/>
              <a:ea typeface="Noto Sans KR" panose="020B0200000000000000" pitchFamily="50" charset="-127"/>
              <a:cs typeface="Mangal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19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44200" y="310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02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6928" y="310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UnHarnessedYU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산업 현장의 장애 대응은 왜 늦어지는가?</a:t>
            </a:r>
            <a:endParaRPr lang="en-US" sz="3000" dirty="0">
              <a:latin typeface="Noto Sans KR Black"/>
              <a:ea typeface="Noto Sans KR Black"/>
              <a:cs typeface="Noto Sans KR Black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9808" y="124358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매뉴얼은 존재하지만, 필요한 순간에 실행 가능한 절차로 바꾸기 어렵다.</a:t>
            </a:r>
            <a:endParaRPr lang="en-US" sz="13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3232" y="1627632"/>
            <a:ext cx="10753344" cy="0"/>
          </a:xfrm>
          <a:prstGeom prst="line">
            <a:avLst/>
          </a:prstGeom>
          <a:noFill/>
          <a:ln w="12700">
            <a:solidFill>
              <a:srgbClr val="44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942832" y="1828800"/>
            <a:ext cx="2514600" cy="4224528"/>
          </a:xfrm>
          <a:prstGeom prst="roundRect">
            <a:avLst>
              <a:gd name="adj" fmla="val 4364"/>
            </a:avLst>
          </a:prstGeom>
          <a:solidFill>
            <a:srgbClr val="0B0F18"/>
          </a:solidFill>
          <a:ln w="12700">
            <a:solidFill>
              <a:srgbClr val="4B5C9B">
                <a:alpha val="7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9107424" y="5449824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9198864" y="555955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F"/>
                </a:solidFill>
                <a:latin typeface="Noto Sans KR"/>
                <a:ea typeface="Noto Sans KR"/>
                <a:cs typeface="Noto Sans KR"/>
              </a:rPr>
              <a:t>비정형 PDF 매뉴얼 중심의 장애 대응</a:t>
            </a:r>
            <a:endParaRPr lang="en-US" sz="72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86384" y="18745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0A4"/>
                </a:solidFill>
                <a:latin typeface="HY견고딕"/>
                <a:ea typeface="HY견고딕"/>
                <a:cs typeface="HY견고딕"/>
              </a:rPr>
              <a:t>Core Problem</a:t>
            </a:r>
            <a:endParaRPr lang="en-US" sz="10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86384" y="2176272"/>
            <a:ext cx="6903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“정보의 부재”가 </a:t>
            </a:r>
            <a:r>
              <a:rPr lang="en-US" sz="2300" b="1" dirty="0" err="1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아니라</a:t>
            </a:r>
            <a:r>
              <a:rPr lang="en-US" sz="23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,</a:t>
            </a:r>
            <a:r>
              <a:rPr lang="en-US" sz="2300" dirty="0">
                <a:latin typeface="Noto Sans KR Black"/>
                <a:ea typeface="Noto Sans KR Black"/>
                <a:cs typeface="Noto Sans KR Black"/>
              </a:rPr>
              <a:t> </a:t>
            </a:r>
            <a:r>
              <a:rPr lang="en-US" sz="2300" b="1" dirty="0" err="1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장애</a:t>
            </a:r>
            <a:r>
              <a:rPr lang="en-US" sz="23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 상황에서 필요한 정보를</a:t>
            </a:r>
            <a:endParaRPr lang="en-US" sz="2300" dirty="0">
              <a:latin typeface="Noto Sans KR Black"/>
              <a:ea typeface="Noto Sans KR Black"/>
              <a:cs typeface="Noto Sans KR Black"/>
            </a:endParaRPr>
          </a:p>
          <a:p>
            <a:pPr marL="0" indent="0">
              <a:buNone/>
            </a:pPr>
            <a:r>
              <a:rPr lang="en-US" sz="23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즉시 찾고 절차화하기 어렵다는 점</a:t>
            </a:r>
            <a:endParaRPr lang="en-US" sz="2300" dirty="0">
              <a:latin typeface="Noto Sans KR Black"/>
              <a:ea typeface="Noto Sans KR Black"/>
              <a:cs typeface="Noto Sans KR Black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86384" y="3822192"/>
            <a:ext cx="1847088" cy="1170432"/>
          </a:xfrm>
          <a:prstGeom prst="roundRect">
            <a:avLst>
              <a:gd name="adj" fmla="val 9375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6C5BF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50976" y="4016382"/>
            <a:ext cx="310896" cy="310896"/>
          </a:xfrm>
          <a:prstGeom prst="ellipse">
            <a:avLst/>
          </a:prstGeom>
          <a:solidFill>
            <a:srgbClr val="6C5BFF">
              <a:alpha val="95000"/>
            </a:srgbClr>
          </a:solidFill>
          <a:ln w="12700">
            <a:solidFill>
              <a:srgbClr val="6C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950976" y="409194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1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389888" y="404838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분산된 문서</a:t>
            </a:r>
            <a:endParaRPr lang="en-US" sz="125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371600" y="4237041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PDF, 도면, </a:t>
            </a:r>
            <a:r>
              <a:rPr lang="en-US" sz="100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작업</a:t>
            </a:r>
            <a:r>
              <a:rPr lang="en-US" sz="100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</a:t>
            </a:r>
            <a:r>
              <a:rPr lang="en-US" sz="100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문서가</a:t>
            </a:r>
            <a:r>
              <a:rPr lang="en-US" sz="1000" dirty="0">
                <a:latin typeface="HY견고딕"/>
                <a:ea typeface="HY견고딕"/>
                <a:cs typeface="HY견고딕"/>
              </a:rPr>
              <a:t> </a:t>
            </a:r>
            <a:r>
              <a:rPr lang="en-US" sz="100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비정형</a:t>
            </a:r>
            <a:r>
              <a:rPr lang="en-US" sz="100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데이터로 흩어짐</a:t>
            </a:r>
            <a:endParaRPr lang="en-US" sz="10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2852928" y="3822192"/>
            <a:ext cx="1847088" cy="1170432"/>
          </a:xfrm>
          <a:prstGeom prst="roundRect">
            <a:avLst>
              <a:gd name="adj" fmla="val 9375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4567F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017520" y="4005072"/>
            <a:ext cx="310896" cy="310896"/>
          </a:xfrm>
          <a:prstGeom prst="ellipse">
            <a:avLst/>
          </a:prstGeom>
          <a:solidFill>
            <a:srgbClr val="4567FF">
              <a:alpha val="95000"/>
            </a:srgbClr>
          </a:solidFill>
          <a:ln w="12700">
            <a:solidFill>
              <a:srgbClr val="456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3017520" y="409194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2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438144" y="403611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직접 탐색</a:t>
            </a:r>
            <a:endParaRPr lang="en-US" sz="125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450416" y="4219956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작업자가 긴 </a:t>
            </a:r>
            <a:r>
              <a:rPr lang="en-US" sz="102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매뉴얼에서</a:t>
            </a: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</a:t>
            </a:r>
            <a:r>
              <a:rPr lang="en-US" sz="102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필요한</a:t>
            </a: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절차를 수동 검색</a:t>
            </a:r>
            <a:endParaRPr lang="en-US" sz="10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919472" y="3822192"/>
            <a:ext cx="1847088" cy="1170432"/>
          </a:xfrm>
          <a:prstGeom prst="roundRect">
            <a:avLst>
              <a:gd name="adj" fmla="val 9375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6C5BF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5084064" y="4005072"/>
            <a:ext cx="310896" cy="310896"/>
          </a:xfrm>
          <a:prstGeom prst="ellipse">
            <a:avLst/>
          </a:prstGeom>
          <a:solidFill>
            <a:srgbClr val="6C5BFF">
              <a:alpha val="95000"/>
            </a:srgbClr>
          </a:solidFill>
          <a:ln w="12700">
            <a:solidFill>
              <a:srgbClr val="6C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5084064" y="409194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3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513832" y="40325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숙련자 의존</a:t>
            </a:r>
            <a:endParaRPr lang="en-US" sz="125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504688" y="4234153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경험 </a:t>
            </a:r>
            <a:r>
              <a:rPr lang="en-US" sz="102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많은</a:t>
            </a: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</a:t>
            </a:r>
            <a:r>
              <a:rPr lang="en-US" sz="102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작업자에게</a:t>
            </a: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</a:t>
            </a:r>
            <a:r>
              <a:rPr lang="en-US" sz="1020" dirty="0" err="1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장애</a:t>
            </a: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 대응 지식이 집중</a:t>
            </a:r>
            <a:endParaRPr lang="en-US" sz="10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986016" y="3803903"/>
            <a:ext cx="1847088" cy="1170432"/>
          </a:xfrm>
          <a:prstGeom prst="roundRect">
            <a:avLst>
              <a:gd name="adj" fmla="val 9375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F6B84B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7150608" y="4005072"/>
            <a:ext cx="310896" cy="310896"/>
          </a:xfrm>
          <a:prstGeom prst="ellipse">
            <a:avLst/>
          </a:prstGeom>
          <a:solidFill>
            <a:srgbClr val="F6B84B">
              <a:alpha val="95000"/>
            </a:srgbClr>
          </a:solidFill>
          <a:ln w="12700">
            <a:solidFill>
              <a:srgbClr val="F6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7150608" y="409194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4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580376" y="404381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다운타임 증가</a:t>
            </a:r>
            <a:endParaRPr lang="en-US" sz="125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580376" y="4237041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초기 대응 지연이</a:t>
            </a:r>
            <a:endParaRPr lang="en-US" sz="1020" dirty="0">
              <a:latin typeface="HY견고딕"/>
              <a:ea typeface="HY견고딕"/>
              <a:cs typeface="HY견고딕"/>
            </a:endParaRPr>
          </a:p>
          <a:p>
            <a:pPr marL="0" indent="0">
              <a:buNone/>
            </a:pPr>
            <a:r>
              <a:rPr lang="en-US" sz="1020" dirty="0">
                <a:solidFill>
                  <a:srgbClr val="AAB4D0"/>
                </a:solidFill>
                <a:latin typeface="HY견고딕"/>
                <a:ea typeface="HY견고딕"/>
                <a:cs typeface="HY견고딕"/>
              </a:rPr>
              <a:t>생산 손실로 연결</a:t>
            </a:r>
            <a:endParaRPr lang="en-US" sz="10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1463040" y="5550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설비 장애 발생 → 매뉴얼 탐색 → 대응 지연 → 다운타임</a:t>
            </a:r>
            <a:endParaRPr lang="en-US" sz="10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5" name="Text 41">
            <a:extLst>
              <a:ext uri="{FF2B5EF4-FFF2-40B4-BE49-F238E27FC236}">
                <a16:creationId xmlns:a16="http://schemas.microsoft.com/office/drawing/2014/main" id="{5B95B241-4D03-57ED-F07E-A1B3C78E3910}"/>
              </a:ext>
            </a:extLst>
          </p:cNvPr>
          <p:cNvSpPr/>
          <p:nvPr/>
        </p:nvSpPr>
        <p:spPr>
          <a:xfrm>
            <a:off x="9198864" y="21885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2B84B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자료 삽입 예정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44200" y="310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03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6928" y="310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UnHarnessedYU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PDF 매뉴얼을 검색 가능한 조치 Agent로 전환</a:t>
            </a:r>
            <a:endParaRPr lang="en-US" sz="3000" dirty="0">
              <a:latin typeface="Noto Sans KR Black"/>
              <a:ea typeface="Noto Sans KR Black"/>
              <a:cs typeface="Noto Sans KR Black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9808" y="124358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AI가 매뉴얼을 대신 검색하고, 작업자는 출처가 있는 조치 절차를 빠르게 확인한다.</a:t>
            </a:r>
            <a:endParaRPr lang="en-US" sz="13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3232" y="1627632"/>
            <a:ext cx="10753344" cy="0"/>
          </a:xfrm>
          <a:prstGeom prst="line">
            <a:avLst/>
          </a:prstGeom>
          <a:noFill/>
          <a:ln w="12700">
            <a:solidFill>
              <a:srgbClr val="44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86384" y="1851660"/>
            <a:ext cx="3657600" cy="4069080"/>
          </a:xfrm>
          <a:prstGeom prst="roundRect">
            <a:avLst>
              <a:gd name="adj" fmla="val 3000"/>
            </a:avLst>
          </a:prstGeom>
          <a:solidFill>
            <a:srgbClr val="0F1726"/>
          </a:solidFill>
          <a:ln w="12700">
            <a:solidFill>
              <a:srgbClr val="34436E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78992" y="2139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HY견고딕"/>
                <a:ea typeface="HY견고딕"/>
                <a:cs typeface="HY견고딕"/>
              </a:rPr>
              <a:t>기존 방식</a:t>
            </a:r>
            <a:endParaRPr lang="en-US" sz="12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88136" y="2509066"/>
            <a:ext cx="2926080" cy="7461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작업자가 직접 매뉴얼을 검색하고</a:t>
            </a:r>
            <a:endParaRPr lang="en-US" sz="1800" dirty="0">
              <a:latin typeface="HY견고딕"/>
              <a:ea typeface="HY견고딕"/>
              <a:cs typeface="HY견고딕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숙련자 경험에 의존해 조치 절차를 판단</a:t>
            </a:r>
            <a:endParaRPr lang="en-US" sz="18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78992" y="3483864"/>
            <a:ext cx="82296" cy="82296"/>
          </a:xfrm>
          <a:prstGeom prst="ellipse">
            <a:avLst/>
          </a:prstGeom>
          <a:solidFill>
            <a:srgbClr val="6C5BFF"/>
          </a:solidFill>
          <a:ln w="12700">
            <a:solidFill>
              <a:srgbClr val="6C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243584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긴 PDF에서 필요한 페이지를 직접 탐색</a:t>
            </a:r>
            <a:endParaRPr lang="en-US" sz="12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78992" y="3895344"/>
            <a:ext cx="82296" cy="82296"/>
          </a:xfrm>
          <a:prstGeom prst="ellipse">
            <a:avLst/>
          </a:prstGeom>
          <a:solidFill>
            <a:srgbClr val="6C5BFF"/>
          </a:solidFill>
          <a:ln w="12700">
            <a:solidFill>
              <a:srgbClr val="6C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243584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출처 확인과 조치 판단이 분리됨</a:t>
            </a:r>
            <a:endParaRPr lang="en-US" sz="12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78992" y="4306824"/>
            <a:ext cx="82296" cy="82296"/>
          </a:xfrm>
          <a:prstGeom prst="ellipse">
            <a:avLst/>
          </a:prstGeom>
          <a:solidFill>
            <a:srgbClr val="6C5BFF"/>
          </a:solidFill>
          <a:ln w="12700">
            <a:solidFill>
              <a:srgbClr val="6C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243584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신규 작업자의 대응 속도가 느림</a:t>
            </a:r>
            <a:endParaRPr lang="en-US" sz="12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09160" y="3886200"/>
            <a:ext cx="822960" cy="0"/>
          </a:xfrm>
          <a:prstGeom prst="line">
            <a:avLst/>
          </a:prstGeom>
          <a:noFill/>
          <a:ln w="27940">
            <a:solidFill>
              <a:srgbClr val="9D9BFF">
                <a:alpha val="9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687568" y="1874520"/>
            <a:ext cx="5715000" cy="4069080"/>
          </a:xfrm>
          <a:prstGeom prst="roundRect">
            <a:avLst>
              <a:gd name="adj" fmla="val 2697"/>
            </a:avLst>
          </a:prstGeom>
          <a:solidFill>
            <a:srgbClr val="101827"/>
          </a:solidFill>
          <a:ln w="12700">
            <a:solidFill>
              <a:srgbClr val="6C5BFF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16752" y="2139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0A4"/>
                </a:solidFill>
                <a:latin typeface="HY견고딕"/>
                <a:ea typeface="HY견고딕"/>
                <a:cs typeface="HY견고딕"/>
              </a:rPr>
              <a:t>제안 방식</a:t>
            </a:r>
            <a:endParaRPr lang="en-US" sz="12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016752" y="24871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RAG + Workflow Agent</a:t>
            </a:r>
            <a:endParaRPr lang="en-US" sz="2300" dirty="0">
              <a:latin typeface="Noto Sans KR Black"/>
              <a:ea typeface="Noto Sans KR Black"/>
              <a:cs typeface="Noto Sans KR Black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16752" y="3255264"/>
            <a:ext cx="1078992" cy="1060704"/>
          </a:xfrm>
          <a:prstGeom prst="roundRect">
            <a:avLst>
              <a:gd name="adj" fmla="val 6897"/>
            </a:avLst>
          </a:prstGeom>
          <a:solidFill>
            <a:srgbClr val="1A2542"/>
          </a:solidFill>
          <a:ln w="12700">
            <a:solidFill>
              <a:srgbClr val="3B4A7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089904" y="34381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작업자 질문</a:t>
            </a:r>
            <a:endParaRPr lang="en-US" sz="86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89904" y="377647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에러 코드·증상 입력</a:t>
            </a:r>
            <a:endParaRPr lang="en-US" sz="70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32320" y="36941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→</a:t>
            </a:r>
            <a:endParaRPr lang="en-US" sz="15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351776" y="3255264"/>
            <a:ext cx="1078992" cy="1060704"/>
          </a:xfrm>
          <a:prstGeom prst="roundRect">
            <a:avLst>
              <a:gd name="adj" fmla="val 6897"/>
            </a:avLst>
          </a:prstGeom>
          <a:solidFill>
            <a:srgbClr val="1A2542"/>
          </a:solidFill>
          <a:ln w="12700">
            <a:solidFill>
              <a:srgbClr val="3B4A7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7424928" y="34381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PDF 매뉴얼 검색</a:t>
            </a:r>
            <a:endParaRPr lang="en-US" sz="86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424928" y="377647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관련 절차 자동 탐색</a:t>
            </a:r>
            <a:endParaRPr lang="en-US" sz="70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467344" y="36941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→</a:t>
            </a:r>
            <a:endParaRPr lang="en-US" sz="15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686800" y="3255264"/>
            <a:ext cx="1078992" cy="1060704"/>
          </a:xfrm>
          <a:prstGeom prst="roundRect">
            <a:avLst>
              <a:gd name="adj" fmla="val 6897"/>
            </a:avLst>
          </a:prstGeom>
          <a:solidFill>
            <a:srgbClr val="1A2542"/>
          </a:solidFill>
          <a:ln w="12700">
            <a:solidFill>
              <a:srgbClr val="3B4A7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759952" y="34381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절차형 답변 생성</a:t>
            </a:r>
            <a:endParaRPr lang="en-US" sz="86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759952" y="377647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단계별 조치 안내</a:t>
            </a:r>
            <a:endParaRPr lang="en-US" sz="70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802368" y="369417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→</a:t>
            </a:r>
            <a:endParaRPr lang="en-US" sz="15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0021824" y="3255264"/>
            <a:ext cx="1078992" cy="1060704"/>
          </a:xfrm>
          <a:prstGeom prst="roundRect">
            <a:avLst>
              <a:gd name="adj" fmla="val 6897"/>
            </a:avLst>
          </a:prstGeom>
          <a:solidFill>
            <a:srgbClr val="0C3029"/>
          </a:solidFill>
          <a:ln w="12700">
            <a:solidFill>
              <a:srgbClr val="00E0A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10094976" y="34381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출처 기반 검증</a:t>
            </a:r>
            <a:endParaRPr lang="en-US" sz="86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094976" y="377647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문서명·페이지 제공</a:t>
            </a:r>
            <a:endParaRPr lang="en-US" sz="70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71616" y="4709160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111C33"/>
          </a:solidFill>
          <a:ln w="12700">
            <a:solidFill>
              <a:srgbClr val="30467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272784" y="487375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핵심 전환: PDF를 “읽는 문서”에서 “검증 가능한 조치 지식베이스”로 변환</a:t>
            </a:r>
            <a:endParaRPr lang="en-US" sz="920" dirty="0">
              <a:latin typeface="HY견고딕"/>
              <a:ea typeface="HY견고딕"/>
              <a:cs typeface="HY견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44200" y="310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04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6928" y="310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UnHarnessedYU</a:t>
            </a:r>
            <a:endParaRPr lang="en-US" sz="9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F"/>
                </a:solidFill>
                <a:latin typeface="Noto Sans KR Black"/>
                <a:ea typeface="Noto Sans KR Black"/>
                <a:cs typeface="Noto Sans KR Black"/>
              </a:rPr>
              <a:t>구현 결과: RAG Control Center</a:t>
            </a:r>
            <a:endParaRPr lang="en-US" sz="3000" dirty="0">
              <a:latin typeface="Noto Sans KR Black"/>
              <a:ea typeface="Noto Sans KR Black"/>
              <a:cs typeface="Noto Sans KR Black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9808" y="124358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매뉴얼 기반 답변, 단계별 조치 절차, 출처 페이지를 한 화면에서 확인할 수 있다.</a:t>
            </a:r>
            <a:endParaRPr lang="en-US" sz="130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3232" y="1627632"/>
            <a:ext cx="10753344" cy="0"/>
          </a:xfrm>
          <a:prstGeom prst="line">
            <a:avLst/>
          </a:prstGeom>
          <a:noFill/>
          <a:ln w="12700">
            <a:solidFill>
              <a:srgbClr val="44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246120" y="1847088"/>
            <a:ext cx="8119872" cy="4370832"/>
          </a:xfrm>
          <a:prstGeom prst="roundRect">
            <a:avLst>
              <a:gd name="adj" fmla="val 2510"/>
            </a:avLst>
          </a:prstGeom>
          <a:solidFill>
            <a:srgbClr val="05080F"/>
          </a:solidFill>
          <a:ln w="12700">
            <a:solidFill>
              <a:srgbClr val="4B5C9B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mnt/data/전체적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077589"/>
            <a:ext cx="7882128" cy="38915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" y="1938528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6C5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896112" y="204825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① 매뉴얼 관리</a:t>
            </a:r>
            <a:endParaRPr lang="en-US" sz="9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96112" y="2249424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PDF 업로드·선택·삭제</a:t>
            </a:r>
            <a:endParaRPr lang="en-US" sz="72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49808" y="2688336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6C5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896112" y="279806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② 작업자 질문</a:t>
            </a:r>
            <a:endParaRPr lang="en-US" sz="9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96112" y="299923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장애 증상과 에러코드 입력</a:t>
            </a:r>
            <a:endParaRPr lang="en-US" sz="72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49808" y="3438144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6C5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896112" y="3547872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③ 절차형 답변</a:t>
            </a:r>
            <a:endParaRPr lang="en-US" sz="9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96112" y="3749040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단계별 조치 순서 제공</a:t>
            </a:r>
            <a:endParaRPr lang="en-US" sz="72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49808" y="4187952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00E0A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896112" y="4297680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④ 출처 페이지</a:t>
            </a:r>
            <a:endParaRPr lang="en-US" sz="9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96112" y="449884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파일명과 페이지 근거 표시</a:t>
            </a:r>
            <a:endParaRPr lang="en-US" sz="72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749808" y="4937760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6C5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896112" y="504748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F"/>
                </a:solidFill>
                <a:latin typeface="HY견고딕"/>
                <a:ea typeface="HY견고딕"/>
                <a:cs typeface="HY견고딕"/>
              </a:rPr>
              <a:t>⑤ 증상 입력창</a:t>
            </a:r>
            <a:endParaRPr lang="en-US" sz="920" dirty="0">
              <a:latin typeface="HY견고딕"/>
              <a:ea typeface="HY견고딕"/>
              <a:cs typeface="HY견고딕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96112" y="5248656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AAB4D0"/>
                </a:solidFill>
                <a:latin typeface="Noto Sans KR"/>
                <a:ea typeface="Noto Sans KR"/>
                <a:cs typeface="Noto Sans KR"/>
              </a:rPr>
              <a:t>다음 점검을 이어서 입력</a:t>
            </a:r>
            <a:endParaRPr lang="en-US" sz="720" dirty="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1097280" y="6382512"/>
            <a:ext cx="9966960" cy="256032"/>
          </a:xfrm>
          <a:prstGeom prst="roundRect">
            <a:avLst>
              <a:gd name="adj" fmla="val 14286"/>
            </a:avLst>
          </a:prstGeom>
          <a:solidFill>
            <a:srgbClr val="07101E"/>
          </a:solidFill>
          <a:ln w="12700">
            <a:solidFill>
              <a:srgbClr val="29375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1234440" y="6464808"/>
            <a:ext cx="9692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D9BFF"/>
                </a:solidFill>
                <a:latin typeface="HY견고딕"/>
                <a:ea typeface="HY견고딕"/>
                <a:cs typeface="HY견고딕"/>
              </a:rPr>
              <a:t>작업자 질문 → 매뉴얼 검색 → 단계별 조치 절차 → 출처 확인 → 다음 입력</a:t>
            </a:r>
            <a:endParaRPr lang="en-US" sz="850" dirty="0">
              <a:latin typeface="HY견고딕"/>
              <a:ea typeface="HY견고딕"/>
              <a:cs typeface="HY견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/mnt/data/bg_dark.png">
            <a:extLst>
              <a:ext uri="{FF2B5EF4-FFF2-40B4-BE49-F238E27FC236}">
                <a16:creationId xmlns:a16="http://schemas.microsoft.com/office/drawing/2014/main" id="{3EA6A96C-CF45-4831-41AC-37E16A98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5532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66928" y="310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UnHarnessedYU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0744200" y="310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05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8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핵심 기능 ① PDF 매뉴얼 기반 RAG 검색</a:t>
            </a:r>
            <a:endParaRPr lang="en-US" sz="268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정적인 PDF 매뉴얼을 검색 가능한 지식베이스로 변환해 질문과 관련된 조치 절차를 찾아낸다.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627632"/>
            <a:ext cx="10753344" cy="0"/>
          </a:xfrm>
          <a:prstGeom prst="line">
            <a:avLst/>
          </a:prstGeom>
          <a:noFill/>
          <a:ln w="12700">
            <a:solidFill>
              <a:srgbClr val="44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" y="2103119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사용자의 질문을 매뉴얼의 의미 단위와 비교해 가장 관련 높은 조치 문맥을 검색한다.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1929384" y="3374136"/>
            <a:ext cx="137160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36976" y="3374136"/>
            <a:ext cx="137160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44568" y="3374136"/>
            <a:ext cx="137160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52160" y="3374136"/>
            <a:ext cx="137160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159752" y="3374136"/>
            <a:ext cx="137160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04672" y="2880360"/>
            <a:ext cx="1078992" cy="987552"/>
          </a:xfrm>
          <a:prstGeom prst="roundRect">
            <a:avLst>
              <a:gd name="adj" fmla="val 8333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7066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A7D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PDF</a:t>
            </a:r>
            <a:endParaRPr lang="en-US" sz="84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" y="334670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매뉴얼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파싱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12264" y="2880360"/>
            <a:ext cx="1078992" cy="987552"/>
          </a:xfrm>
          <a:prstGeom prst="roundRect">
            <a:avLst>
              <a:gd name="adj" fmla="val 8333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7066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221992" y="30632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A7D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CHUNK</a:t>
            </a:r>
            <a:endParaRPr lang="en-US" sz="84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03704" y="334670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의미 단위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분할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19856" y="2880360"/>
            <a:ext cx="1078992" cy="987552"/>
          </a:xfrm>
          <a:prstGeom prst="roundRect">
            <a:avLst>
              <a:gd name="adj" fmla="val 8333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7066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529584" y="30632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A7D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EMBEDDING</a:t>
            </a:r>
            <a:endParaRPr lang="en-US" sz="84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511296" y="334670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벡터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변환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27448" y="2880360"/>
            <a:ext cx="1078992" cy="987552"/>
          </a:xfrm>
          <a:prstGeom prst="roundRect">
            <a:avLst>
              <a:gd name="adj" fmla="val 8333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7066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37176" y="30632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A7D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DB</a:t>
            </a:r>
            <a:endParaRPr lang="en-US" sz="84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18888" y="334670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ChromaDB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적재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1078992" cy="987552"/>
          </a:xfrm>
          <a:prstGeom prst="roundRect">
            <a:avLst>
              <a:gd name="adj" fmla="val 8333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7066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44768" y="30632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A7D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SEARCH</a:t>
            </a:r>
            <a:endParaRPr lang="en-US" sz="84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26480" y="334670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유사도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검색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342632" y="2880360"/>
            <a:ext cx="1078992" cy="987552"/>
          </a:xfrm>
          <a:prstGeom prst="roundRect">
            <a:avLst>
              <a:gd name="adj" fmla="val 8333"/>
            </a:avLst>
          </a:prstGeom>
          <a:solidFill>
            <a:srgbClr val="0B2B28">
              <a:alpha val="96000"/>
            </a:srgbClr>
          </a:solidFill>
          <a:ln w="12700">
            <a:solidFill>
              <a:srgbClr val="00D79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52360" y="3063240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0D79D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CONTEXT</a:t>
            </a:r>
            <a:endParaRPr lang="en-US" sz="84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34072" y="334670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답변 근거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전달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" y="4343400"/>
            <a:ext cx="6967728" cy="1252728"/>
          </a:xfrm>
          <a:prstGeom prst="roundRect">
            <a:avLst>
              <a:gd name="adj" fmla="val 6569"/>
            </a:avLst>
          </a:prstGeom>
          <a:solidFill>
            <a:srgbClr val="0E1628">
              <a:alpha val="96000"/>
            </a:srgbClr>
          </a:solidFill>
          <a:ln w="12700">
            <a:solidFill>
              <a:srgbClr val="34436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24128" y="45902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00D79D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현재 구현 핵심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1024128" y="4951476"/>
            <a:ext cx="73152" cy="73152"/>
          </a:xfrm>
          <a:prstGeom prst="ellipse">
            <a:avLst/>
          </a:prstGeom>
          <a:solidFill>
            <a:srgbClr val="00D79D"/>
          </a:solidFill>
          <a:ln w="12700">
            <a:solidFill>
              <a:srgbClr val="00D7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170432" y="4901184"/>
            <a:ext cx="6035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PDF 매뉴얼을 파싱하고 의미 기반 청킹으로 검색 품질 확보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24128" y="5289804"/>
            <a:ext cx="73152" cy="73152"/>
          </a:xfrm>
          <a:prstGeom prst="ellipse">
            <a:avLst/>
          </a:prstGeom>
          <a:solidFill>
            <a:srgbClr val="00D79D"/>
          </a:solidFill>
          <a:ln w="12700">
            <a:solidFill>
              <a:srgbClr val="00D7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170432" y="5239512"/>
            <a:ext cx="6035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사용자 질문과 유사한 매뉴얼 문맥을 검색해 답변 생성에 활용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759952" y="1938528"/>
            <a:ext cx="2450592" cy="0"/>
          </a:xfrm>
          <a:prstGeom prst="line">
            <a:avLst/>
          </a:prstGeom>
          <a:noFill/>
          <a:ln w="12700">
            <a:solidFill>
              <a:srgbClr val="7066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759952" y="5596128"/>
            <a:ext cx="2450592" cy="0"/>
          </a:xfrm>
          <a:prstGeom prst="line">
            <a:avLst/>
          </a:prstGeom>
          <a:noFill/>
          <a:ln w="12700">
            <a:solidFill>
              <a:srgbClr val="7066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759952" y="1938528"/>
            <a:ext cx="0" cy="3657600"/>
          </a:xfrm>
          <a:prstGeom prst="line">
            <a:avLst/>
          </a:prstGeom>
          <a:noFill/>
          <a:ln w="12700">
            <a:solidFill>
              <a:srgbClr val="7066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210544" y="1938528"/>
            <a:ext cx="0" cy="3657600"/>
          </a:xfrm>
          <a:prstGeom prst="line">
            <a:avLst/>
          </a:prstGeom>
          <a:noFill/>
          <a:ln w="12700">
            <a:solidFill>
              <a:srgbClr val="7066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980371" y="22860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2B84B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자료 삽입 예정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979408" y="260604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Hybrid Search 구조도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/mnt/data/bg_dark.png">
            <a:extLst>
              <a:ext uri="{FF2B5EF4-FFF2-40B4-BE49-F238E27FC236}">
                <a16:creationId xmlns:a16="http://schemas.microsoft.com/office/drawing/2014/main" id="{670A8624-CB59-BE7D-E25B-CD8001F802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1107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66928" y="310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UnHarnessedYU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0744200" y="310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06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8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핵심 기능 ② 출처 기반 답변과 PDF 원문 확인</a:t>
            </a:r>
            <a:endParaRPr lang="en-US" sz="268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AI 답변에 문서명과 페이지 번호를 함께 제공해, 작업자가 원문으로 조치 절차를 검증할 수 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627632"/>
            <a:ext cx="10753344" cy="0"/>
          </a:xfrm>
          <a:prstGeom prst="line">
            <a:avLst/>
          </a:prstGeom>
          <a:noFill/>
          <a:ln w="12700">
            <a:solidFill>
              <a:srgbClr val="44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13232" y="1961866"/>
            <a:ext cx="4160520" cy="4553712"/>
          </a:xfrm>
          <a:prstGeom prst="roundRect">
            <a:avLst>
              <a:gd name="adj" fmla="val 1978"/>
            </a:avLst>
          </a:prstGeom>
          <a:solidFill>
            <a:srgbClr val="05080F"/>
          </a:solidFill>
          <a:ln w="12700">
            <a:solidFill>
              <a:srgbClr val="44506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data/답변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2112742"/>
            <a:ext cx="2951862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96112" y="1664926"/>
            <a:ext cx="1417320" cy="228600"/>
          </a:xfrm>
          <a:prstGeom prst="roundRect">
            <a:avLst>
              <a:gd name="adj" fmla="val 22000"/>
            </a:avLst>
          </a:prstGeom>
          <a:solidFill>
            <a:srgbClr val="00D79D">
              <a:alpha val="92000"/>
            </a:srgbClr>
          </a:solidFill>
          <a:ln w="8890">
            <a:solidFill>
              <a:srgbClr val="00D7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18972" y="1691644"/>
            <a:ext cx="1371600" cy="164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답변 카드 + 출처 뱃지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285232" y="187452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101827">
              <a:alpha val="96000"/>
            </a:srgbClr>
          </a:solidFill>
          <a:ln w="12700">
            <a:solidFill>
              <a:srgbClr val="00D79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496266" y="2050903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0D79D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현재 구현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96266" y="238851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Citation Badge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96266" y="2766057"/>
            <a:ext cx="73152" cy="73152"/>
          </a:xfrm>
          <a:prstGeom prst="ellipse">
            <a:avLst/>
          </a:prstGeom>
          <a:solidFill>
            <a:srgbClr val="00D79D"/>
          </a:solidFill>
          <a:ln w="12700">
            <a:solidFill>
              <a:srgbClr val="00D7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642570" y="2715765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답변 하단에 PDF 파일명·페이지 표시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96266" y="3125202"/>
            <a:ext cx="73152" cy="73152"/>
          </a:xfrm>
          <a:prstGeom prst="ellipse">
            <a:avLst/>
          </a:prstGeom>
          <a:solidFill>
            <a:srgbClr val="00D79D"/>
          </a:solidFill>
          <a:ln w="12700">
            <a:solidFill>
              <a:srgbClr val="00D7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642570" y="3074910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작업자가 AI 답변의 근거를 직접 확인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96266" y="3490362"/>
            <a:ext cx="73152" cy="73152"/>
          </a:xfrm>
          <a:prstGeom prst="ellipse">
            <a:avLst/>
          </a:prstGeom>
          <a:solidFill>
            <a:srgbClr val="00D79D"/>
          </a:solidFill>
          <a:ln w="12700">
            <a:solidFill>
              <a:srgbClr val="00D7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642570" y="3440070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산업 현장에 필요한 추적 가능성 확보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85232" y="4400190"/>
            <a:ext cx="2697480" cy="1506834"/>
          </a:xfrm>
          <a:prstGeom prst="roundRect">
            <a:avLst>
              <a:gd name="adj" fmla="val 4918"/>
            </a:avLst>
          </a:prstGeom>
          <a:solidFill>
            <a:srgbClr val="0E1628">
              <a:alpha val="96000"/>
            </a:srgbClr>
          </a:solidFill>
          <a:ln w="12700">
            <a:solidFill>
              <a:srgbClr val="7066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496266" y="4580181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96266" y="495604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AI 답변을 그대로 신뢰하는 구조가 </a:t>
            </a:r>
            <a:r>
              <a:rPr lang="en-US" sz="960" dirty="0" err="1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아니라</a:t>
            </a:r>
            <a:r>
              <a:rPr lang="en-US" sz="96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, </a:t>
            </a:r>
            <a:r>
              <a:rPr lang="en-US" sz="960" dirty="0" err="1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원문</a:t>
            </a:r>
            <a:r>
              <a:rPr lang="en-US" sz="960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 대조를 통해 검증 가능한 구조로 설계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8302752" y="1874520"/>
            <a:ext cx="2907792" cy="4032504"/>
          </a:xfrm>
          <a:prstGeom prst="roundRect">
            <a:avLst>
              <a:gd name="adj" fmla="val 2830"/>
            </a:avLst>
          </a:prstGeom>
          <a:solidFill>
            <a:srgbClr val="0D1424"/>
          </a:solidFill>
          <a:ln w="15240">
            <a:solidFill>
              <a:srgbClr val="F2B84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8567928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2B84B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자료 삽입 예정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8577072" y="26151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PDF Viewer Preview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77072" y="315468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출처 클릭 시 해당 PDF의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특정 페이지를 즉시 열어주는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A9B5D7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Inline Reference 화면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/mnt/data/bg_dark.png">
            <a:extLst>
              <a:ext uri="{FF2B5EF4-FFF2-40B4-BE49-F238E27FC236}">
                <a16:creationId xmlns:a16="http://schemas.microsoft.com/office/drawing/2014/main" id="{2785B4B4-19C2-AAA1-CE09-AE02F44D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-1155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713232" y="566928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8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핵심</a:t>
            </a:r>
            <a:r>
              <a:rPr lang="en-US" altLang="ko-KR" sz="28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 </a:t>
            </a:r>
            <a:r>
              <a:rPr lang="en-US" altLang="ko-KR" sz="28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기능</a:t>
            </a:r>
            <a:r>
              <a:rPr lang="en-US" altLang="ko-KR" sz="28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HY견고딕" pitchFamily="34" charset="-120"/>
              </a:rPr>
              <a:t> ③: </a:t>
            </a:r>
            <a:r>
              <a:rPr lang="en-US" sz="24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Workflow </a:t>
            </a:r>
            <a:r>
              <a:rPr lang="en-US" sz="24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확장</a:t>
            </a:r>
            <a:r>
              <a:rPr lang="en-US" sz="24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, </a:t>
            </a:r>
            <a:r>
              <a:rPr lang="en-US" sz="24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장애</a:t>
            </a:r>
            <a:r>
              <a:rPr lang="en-US" sz="24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 </a:t>
            </a:r>
            <a:r>
              <a:rPr lang="en-US" sz="24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조치</a:t>
            </a:r>
            <a:r>
              <a:rPr lang="en-US" sz="24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 </a:t>
            </a:r>
            <a:r>
              <a:rPr lang="en-US" sz="24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보고서</a:t>
            </a:r>
            <a:r>
              <a:rPr lang="en-US" sz="24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 </a:t>
            </a:r>
            <a:r>
              <a:rPr lang="en-US" sz="2400" b="1" dirty="0" err="1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자동화</a:t>
            </a:r>
            <a:endParaRPr lang="en-US"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2252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8A7D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AI와의 대화 기록을 실제 현장에서 활용 가능한 장애 조치 보고서로 변환한다.</a:t>
            </a:r>
            <a:endParaRPr lang="en-US" sz="108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1627632"/>
            <a:ext cx="10753344" cy="0"/>
          </a:xfrm>
          <a:prstGeom prst="line">
            <a:avLst/>
          </a:prstGeom>
          <a:noFill/>
          <a:ln w="12700">
            <a:solidFill>
              <a:srgbClr val="44506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대화 기록 → 조치 절차 정리 → 장애 보고서 자동 생성</a:t>
            </a:r>
            <a:endParaRPr lang="en-US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812085" y="3136392"/>
            <a:ext cx="658368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43800" y="3136392"/>
            <a:ext cx="658368" cy="0"/>
          </a:xfrm>
          <a:prstGeom prst="line">
            <a:avLst/>
          </a:prstGeom>
          <a:noFill/>
          <a:ln w="15240">
            <a:solidFill>
              <a:srgbClr val="8A7DFF">
                <a:alpha val="8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49808" y="2542032"/>
            <a:ext cx="2894397" cy="3072384"/>
          </a:xfrm>
          <a:prstGeom prst="roundRect">
            <a:avLst>
              <a:gd name="adj" fmla="val 2687"/>
            </a:avLst>
          </a:prstGeom>
          <a:solidFill>
            <a:srgbClr val="090D16"/>
          </a:solidFill>
          <a:ln w="12700">
            <a:solidFill>
              <a:srgbClr val="44506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87552" y="27889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A7D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INPUT</a:t>
            </a:r>
            <a:endParaRPr 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" y="30906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AI 대화 기록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Image 0" descr="/mnt/data/답변.png"/>
          <p:cNvPicPr>
            <a:picLocks noChangeAspect="1"/>
          </p:cNvPicPr>
          <p:nvPr/>
        </p:nvPicPr>
        <p:blipFill>
          <a:blip r:embed="rId4"/>
          <a:srcRect t="30623" r="11140" b="30623"/>
          <a:stretch>
            <a:fillRect/>
          </a:stretch>
        </p:blipFill>
        <p:spPr>
          <a:xfrm>
            <a:off x="960120" y="3456432"/>
            <a:ext cx="2372627" cy="1490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19" y="5084064"/>
            <a:ext cx="256513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9B5D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질문·답변·출처·수행 단계가</a:t>
            </a:r>
            <a:endParaRPr lang="en-US" sz="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A9B5D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하나의 조치 이력으로 누적</a:t>
            </a:r>
            <a:endParaRPr lang="en-US" sz="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48201" y="2526390"/>
            <a:ext cx="2830690" cy="3072384"/>
          </a:xfrm>
          <a:prstGeom prst="roundRect">
            <a:avLst>
              <a:gd name="adj" fmla="val 2679"/>
            </a:avLst>
          </a:prstGeom>
          <a:solidFill>
            <a:srgbClr val="0F1726">
              <a:alpha val="96000"/>
            </a:srgbClr>
          </a:solidFill>
          <a:ln w="12700">
            <a:solidFill>
              <a:srgbClr val="7066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894205" y="27934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0D79D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CJK KR" pitchFamily="34" charset="-120"/>
              </a:rPr>
              <a:t>PROCESS</a:t>
            </a:r>
            <a:endParaRPr lang="en-US" sz="1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90216" y="30906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조치 절차 정리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90216" y="3482901"/>
            <a:ext cx="201168" cy="201168"/>
          </a:xfrm>
          <a:prstGeom prst="ellipse">
            <a:avLst/>
          </a:prstGeom>
          <a:solidFill>
            <a:srgbClr val="7066FF"/>
          </a:solidFill>
          <a:ln w="12700">
            <a:solidFill>
              <a:srgbClr val="7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887689" y="355244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90042" y="3509973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5D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장애 상황 요약</a:t>
            </a:r>
            <a:endParaRPr lang="en-US" sz="93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894205" y="3908578"/>
            <a:ext cx="201168" cy="201168"/>
          </a:xfrm>
          <a:prstGeom prst="ellipse">
            <a:avLst/>
          </a:prstGeom>
          <a:solidFill>
            <a:srgbClr val="7066FF"/>
          </a:solidFill>
          <a:ln w="12700">
            <a:solidFill>
              <a:srgbClr val="7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894205" y="3971143"/>
            <a:ext cx="20116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90042" y="3930355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5D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수행한 조치 단계</a:t>
            </a:r>
            <a:endParaRPr lang="en-US" sz="93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887689" y="4326977"/>
            <a:ext cx="201168" cy="201168"/>
          </a:xfrm>
          <a:prstGeom prst="ellipse">
            <a:avLst/>
          </a:prstGeom>
          <a:solidFill>
            <a:srgbClr val="7066FF"/>
          </a:solidFill>
          <a:ln w="12700">
            <a:solidFill>
              <a:srgbClr val="7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4887689" y="4385450"/>
            <a:ext cx="20116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80657" y="4346407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5D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확인한 매뉴얼 출처</a:t>
            </a:r>
            <a:endParaRPr lang="en-US" sz="93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894205" y="4745377"/>
            <a:ext cx="201168" cy="201168"/>
          </a:xfrm>
          <a:prstGeom prst="ellipse">
            <a:avLst/>
          </a:prstGeom>
          <a:solidFill>
            <a:srgbClr val="7066FF"/>
          </a:solidFill>
          <a:ln w="12700">
            <a:solidFill>
              <a:srgbClr val="7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894205" y="480342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D94DBE79-41C7-5741-FE08-5CF67976CEB1}"/>
              </a:ext>
            </a:extLst>
          </p:cNvPr>
          <p:cNvSpPr/>
          <p:nvPr/>
        </p:nvSpPr>
        <p:spPr>
          <a:xfrm>
            <a:off x="8404539" y="2542032"/>
            <a:ext cx="2907792" cy="3072383"/>
          </a:xfrm>
          <a:prstGeom prst="roundRect">
            <a:avLst>
              <a:gd name="adj" fmla="val 2830"/>
            </a:avLst>
          </a:prstGeom>
          <a:solidFill>
            <a:srgbClr val="0D1424"/>
          </a:solidFill>
          <a:ln w="15240">
            <a:solidFill>
              <a:srgbClr val="F2B84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Text 27"/>
          <p:cNvSpPr/>
          <p:nvPr/>
        </p:nvSpPr>
        <p:spPr>
          <a:xfrm>
            <a:off x="5190042" y="4767153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9B5D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작업자 확인 결과</a:t>
            </a:r>
            <a:endParaRPr lang="en-US" sz="93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92530" y="5103252"/>
            <a:ext cx="2542032" cy="35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0D79D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작업자는 보고서 작성용 문장을</a:t>
            </a:r>
            <a:endParaRPr lang="en-US" sz="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00D79D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다시 정리하지 않아도 됨</a:t>
            </a:r>
            <a:endParaRPr lang="en-US" sz="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519160" y="302305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장애 조치 보고서</a:t>
            </a:r>
            <a:endParaRPr lang="en-US" sz="14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749808" y="6144768"/>
            <a:ext cx="10561320" cy="384048"/>
          </a:xfrm>
          <a:prstGeom prst="roundRect">
            <a:avLst>
              <a:gd name="adj" fmla="val 21429"/>
            </a:avLst>
          </a:prstGeom>
          <a:solidFill>
            <a:srgbClr val="0E1628">
              <a:alpha val="96000"/>
            </a:srgbClr>
          </a:solidFill>
          <a:ln w="12700">
            <a:solidFill>
              <a:srgbClr val="34436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1005840" y="6291072"/>
            <a:ext cx="10058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8A7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작업자: 보고서 작성 부담 감소     |     관리자: 해결 절차 추적 가능     |     조직: 장애 사례 데이터베이스 구축</a:t>
            </a:r>
            <a:endParaRPr lang="en-US" sz="83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3FC12B23-2C29-ADAE-819B-746A3B34659D}"/>
              </a:ext>
            </a:extLst>
          </p:cNvPr>
          <p:cNvSpPr/>
          <p:nvPr/>
        </p:nvSpPr>
        <p:spPr>
          <a:xfrm>
            <a:off x="8668512" y="27889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2B84B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자료 삽입 예정</a:t>
            </a:r>
            <a:endParaRPr lang="en-US" sz="820" dirty="0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EECC3808-647A-AF21-F3A7-3C382D71082F}"/>
              </a:ext>
            </a:extLst>
          </p:cNvPr>
          <p:cNvSpPr/>
          <p:nvPr/>
        </p:nvSpPr>
        <p:spPr>
          <a:xfrm>
            <a:off x="10744200" y="310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07</a:t>
            </a:r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34BE123F-F8FE-B4A8-FDE1-E7290E0B06B8}"/>
              </a:ext>
            </a:extLst>
          </p:cNvPr>
          <p:cNvSpPr/>
          <p:nvPr/>
        </p:nvSpPr>
        <p:spPr>
          <a:xfrm>
            <a:off x="566928" y="310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8A7D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UnHarnessedYU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Y견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Y견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597</Words>
  <Application>Microsoft Office PowerPoint</Application>
  <PresentationFormat>와이드스크린</PresentationFormat>
  <Paragraphs>145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Noto Sans CJK KR</vt:lpstr>
      <vt:lpstr>Noto Sans KR</vt:lpstr>
      <vt:lpstr>Noto Sans KR Black</vt:lpstr>
      <vt:lpstr>Arial</vt:lpstr>
      <vt:lpstr>Mangal</vt:lpstr>
      <vt:lpstr>Office Theme</vt:lpstr>
      <vt:lpstr> RAG 장애 조치 지원 에이전트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UnHarnessedYU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장애 조치 지원 에이전트</dc:title>
  <dc:subject>UnHarnessedYU RAG Portfolio 1-6</dc:subject>
  <dc:creator>OpenAI</dc:creator>
  <cp:lastModifiedBy>안태언</cp:lastModifiedBy>
  <cp:revision>3</cp:revision>
  <dcterms:created xsi:type="dcterms:W3CDTF">2026-05-20T18:34:36Z</dcterms:created>
  <dcterms:modified xsi:type="dcterms:W3CDTF">2026-05-20T19:32:08Z</dcterms:modified>
</cp:coreProperties>
</file>